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8"/>
  </p:notesMasterIdLst>
  <p:sldIdLst>
    <p:sldId id="256" r:id="rId2"/>
    <p:sldId id="298" r:id="rId3"/>
    <p:sldId id="299" r:id="rId4"/>
    <p:sldId id="295" r:id="rId5"/>
    <p:sldId id="271" r:id="rId6"/>
    <p:sldId id="272" r:id="rId7"/>
    <p:sldId id="273" r:id="rId8"/>
    <p:sldId id="274" r:id="rId9"/>
    <p:sldId id="275" r:id="rId10"/>
    <p:sldId id="279" r:id="rId11"/>
    <p:sldId id="310" r:id="rId12"/>
    <p:sldId id="280" r:id="rId13"/>
    <p:sldId id="300" r:id="rId14"/>
    <p:sldId id="281" r:id="rId15"/>
    <p:sldId id="282" r:id="rId16"/>
    <p:sldId id="283" r:id="rId17"/>
    <p:sldId id="302" r:id="rId18"/>
    <p:sldId id="284" r:id="rId19"/>
    <p:sldId id="285" r:id="rId20"/>
    <p:sldId id="289" r:id="rId21"/>
    <p:sldId id="290" r:id="rId22"/>
    <p:sldId id="296" r:id="rId23"/>
    <p:sldId id="305" r:id="rId24"/>
    <p:sldId id="301" r:id="rId25"/>
    <p:sldId id="291" r:id="rId26"/>
    <p:sldId id="293" r:id="rId27"/>
    <p:sldId id="292" r:id="rId28"/>
    <p:sldId id="286" r:id="rId29"/>
    <p:sldId id="288" r:id="rId30"/>
    <p:sldId id="287" r:id="rId31"/>
    <p:sldId id="303" r:id="rId32"/>
    <p:sldId id="304" r:id="rId33"/>
    <p:sldId id="306" r:id="rId34"/>
    <p:sldId id="307" r:id="rId35"/>
    <p:sldId id="308" r:id="rId36"/>
    <p:sldId id="309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365F4D-3174-EFA4-5503-5579DF5D8B21}" v="1" dt="2019-05-02T19:01:25.1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70" y="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1F361B-6E41-4156-95C2-A5F4CF07E1B7}" type="datetimeFigureOut">
              <a:rPr lang="en-US" smtClean="0"/>
              <a:t>4/21/2021</a:t>
            </a:fld>
            <a:endParaRPr lang="en-U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C60EE1-DC1D-4C02-B2EE-6CD5A4E336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510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Revisar lo que lleva cada sección en el capítulo 1 y luego ver el ejemplo de </a:t>
            </a:r>
            <a:r>
              <a:rPr lang="es-CO" dirty="0" err="1"/>
              <a:t>Singleton</a:t>
            </a:r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C60EE1-DC1D-4C02-B2EE-6CD5A4E336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991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DB93A-1A15-45EE-BFF7-27A0563A8AC9}" type="datetime1">
              <a:rPr lang="en-US" smtClean="0"/>
              <a:t>4/21/2021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315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06619-48DB-467D-9F67-6837B6114DD3}" type="datetime1">
              <a:rPr lang="en-US" smtClean="0"/>
              <a:t>4/21/2021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54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F9E18-75ED-44E8-9467-018DEDDCBE8B}" type="datetime1">
              <a:rPr lang="en-US" smtClean="0"/>
              <a:t>4/21/2021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771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7E31-2D36-4378-9493-9A34B0201747}" type="datetime1">
              <a:rPr lang="en-US" smtClean="0"/>
              <a:t>4/21/2021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664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B4328-9648-4F37-BE86-D8BB75EB75D0}" type="datetime1">
              <a:rPr lang="en-US" smtClean="0"/>
              <a:t>4/21/2021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819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A441D-07FE-4D6B-AFBC-7CDEB097DAC3}" type="datetime1">
              <a:rPr lang="en-US" smtClean="0"/>
              <a:t>4/21/2021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8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A6B3C-C3B6-41C4-B93C-27676AB7CCB8}" type="datetime1">
              <a:rPr lang="en-US" smtClean="0"/>
              <a:t>4/21/2021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670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CF68E-214D-4D94-BB0E-4B9BBAA4D67D}" type="datetime1">
              <a:rPr lang="en-US" smtClean="0"/>
              <a:t>4/21/2021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522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D0BEC-91E5-488F-AA65-8D94574F79FE}" type="datetime1">
              <a:rPr lang="en-US" smtClean="0"/>
              <a:t>4/21/2021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28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36EA7-CBFD-433B-AE0C-AAC4A3E4F455}" type="datetime1">
              <a:rPr lang="en-US" smtClean="0"/>
              <a:t>4/21/2021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59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AC1F3-5E82-42BB-B6C3-5CAE6C81290C}" type="datetime1">
              <a:rPr lang="en-US" smtClean="0"/>
              <a:t>4/21/2021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473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B4F3C-E4A7-44DD-B906-FE9B1CA72A0E}" type="datetime1">
              <a:rPr lang="en-US" smtClean="0"/>
              <a:t>4/21/2021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10F5D-3CE8-4BB1-A1CF-712FC672258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715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Patrones de Diseño de Software: Introducción</a:t>
            </a:r>
            <a:endParaRPr lang="en-U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CO" sz="2400" dirty="0" err="1"/>
              <a:t>Norha</a:t>
            </a:r>
            <a:r>
              <a:rPr lang="es-CO" sz="2400" dirty="0"/>
              <a:t> Villegas – Karen Lara</a:t>
            </a:r>
          </a:p>
          <a:p>
            <a:r>
              <a:rPr lang="es-CO" sz="2400" dirty="0"/>
              <a:t>Departamento de TIC, Universidad Icesi</a:t>
            </a:r>
          </a:p>
          <a:p>
            <a:r>
              <a:rPr lang="es-CO" sz="2400" dirty="0"/>
              <a:t>Abril 2019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8698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¿Qué es un Patrón de Diseño?</a:t>
            </a:r>
            <a:endParaRPr lang="en-US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Describe un problema recurrente</a:t>
            </a:r>
          </a:p>
          <a:p>
            <a:r>
              <a:rPr lang="es-CO" dirty="0"/>
              <a:t>Describe una solución general al problema</a:t>
            </a:r>
          </a:p>
          <a:p>
            <a:pPr lvl="1"/>
            <a:r>
              <a:rPr lang="es-CO" dirty="0"/>
              <a:t>Puede usarse infinitas veces</a:t>
            </a:r>
          </a:p>
          <a:p>
            <a:pPr lvl="1"/>
            <a:r>
              <a:rPr lang="es-CO" dirty="0"/>
              <a:t>Se particulariza al contexto concreto de aplicación</a:t>
            </a:r>
            <a:endParaRPr lang="en-US" dirty="0"/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2</a:t>
            </a:fld>
            <a:endParaRPr lang="en-US"/>
          </a:p>
        </p:txBody>
      </p:sp>
      <p:sp>
        <p:nvSpPr>
          <p:cNvPr id="6" name="5 CuadroTexto"/>
          <p:cNvSpPr txBox="1"/>
          <p:nvPr/>
        </p:nvSpPr>
        <p:spPr>
          <a:xfrm>
            <a:off x="4932040" y="4221088"/>
            <a:ext cx="3461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dirty="0"/>
              <a:t>Christopher Alexander </a:t>
            </a:r>
            <a:r>
              <a:rPr lang="es-CO" i="1" dirty="0"/>
              <a:t>et al.</a:t>
            </a:r>
            <a:r>
              <a:rPr lang="es-CO" dirty="0"/>
              <a:t> (1977)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226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Clasificación patrones básicos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3</a:t>
            </a:fld>
            <a:endParaRPr lang="en-US"/>
          </a:p>
        </p:txBody>
      </p:sp>
      <p:pic>
        <p:nvPicPr>
          <p:cNvPr id="1026" name="Picture 2" descr="Image result for creational design patter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5374" y="1988840"/>
            <a:ext cx="5863704" cy="3490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4535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Clasificación patrones básicos</a:t>
            </a:r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4</a:t>
            </a:fld>
            <a:endParaRPr lang="en-US"/>
          </a:p>
        </p:txBody>
      </p:sp>
      <p:sp>
        <p:nvSpPr>
          <p:cNvPr id="4" name="CuadroTexto 3"/>
          <p:cNvSpPr txBox="1"/>
          <p:nvPr/>
        </p:nvSpPr>
        <p:spPr>
          <a:xfrm>
            <a:off x="453041" y="5520433"/>
            <a:ext cx="7944290" cy="67710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s-ES" sz="1000" b="1" i="1" dirty="0">
                <a:latin typeface="verdana"/>
                <a:ea typeface="verdana"/>
                <a:cs typeface="verdana"/>
              </a:rPr>
              <a:t>Ref. </a:t>
            </a:r>
            <a:r>
              <a:rPr lang="es-ES" sz="1000" b="1" i="1" dirty="0" err="1">
                <a:latin typeface="verdana"/>
                <a:ea typeface="verdana"/>
                <a:cs typeface="verdana"/>
              </a:rPr>
              <a:t>Design</a:t>
            </a:r>
            <a:r>
              <a:rPr lang="es-ES" sz="1000" b="1" i="1" dirty="0">
                <a:latin typeface="verdana"/>
                <a:ea typeface="verdana"/>
                <a:cs typeface="verdana"/>
              </a:rPr>
              <a:t> </a:t>
            </a:r>
            <a:r>
              <a:rPr lang="es-ES" sz="1000" b="1" i="1" dirty="0" err="1">
                <a:latin typeface="verdana"/>
                <a:ea typeface="verdana"/>
                <a:cs typeface="verdana"/>
              </a:rPr>
              <a:t>Patterns</a:t>
            </a:r>
            <a:r>
              <a:rPr lang="es-ES" sz="1000" b="1" i="1" dirty="0">
                <a:latin typeface="verdana"/>
                <a:ea typeface="verdana"/>
                <a:cs typeface="verdana"/>
              </a:rPr>
              <a:t>: </a:t>
            </a:r>
            <a:r>
              <a:rPr lang="es-ES" sz="1000" b="1" i="1" dirty="0" err="1">
                <a:latin typeface="verdana"/>
                <a:ea typeface="verdana"/>
                <a:cs typeface="verdana"/>
              </a:rPr>
              <a:t>Elements</a:t>
            </a:r>
            <a:r>
              <a:rPr lang="es-ES" sz="1000" b="1" i="1" dirty="0">
                <a:latin typeface="verdana"/>
                <a:ea typeface="verdana"/>
                <a:cs typeface="verdana"/>
              </a:rPr>
              <a:t> </a:t>
            </a:r>
            <a:r>
              <a:rPr lang="es-ES" sz="1000" b="1" i="1" dirty="0" err="1">
                <a:latin typeface="verdana"/>
                <a:ea typeface="verdana"/>
                <a:cs typeface="verdana"/>
              </a:rPr>
              <a:t>of</a:t>
            </a:r>
            <a:r>
              <a:rPr lang="es-ES" sz="1000" b="1" i="1" dirty="0">
                <a:latin typeface="verdana"/>
                <a:ea typeface="verdana"/>
                <a:cs typeface="verdana"/>
              </a:rPr>
              <a:t> Reusable </a:t>
            </a:r>
            <a:r>
              <a:rPr lang="es-ES" sz="1000" b="1" i="1" dirty="0" err="1">
                <a:latin typeface="verdana"/>
                <a:ea typeface="verdana"/>
                <a:cs typeface="verdana"/>
              </a:rPr>
              <a:t>Object-Oriented</a:t>
            </a:r>
            <a:r>
              <a:rPr lang="es-ES" sz="1000" b="1" i="1" dirty="0">
                <a:latin typeface="verdana"/>
                <a:ea typeface="verdana"/>
                <a:cs typeface="verdana"/>
              </a:rPr>
              <a:t> Software.</a:t>
            </a:r>
            <a:r>
              <a:rPr lang="es-ES" sz="1000" i="1" dirty="0">
                <a:latin typeface="verdana"/>
                <a:ea typeface="verdana"/>
                <a:cs typeface="verdana"/>
              </a:rPr>
              <a:t> </a:t>
            </a:r>
            <a:br>
              <a:rPr lang="es-ES" sz="1000" dirty="0"/>
            </a:br>
            <a:r>
              <a:rPr lang="es-ES" sz="1000" i="1" dirty="0">
                <a:latin typeface="verdana"/>
                <a:ea typeface="verdana"/>
                <a:cs typeface="verdana"/>
              </a:rPr>
              <a:t>    Erich Gamma, Richard Helm, Ralph Johnson, John </a:t>
            </a:r>
            <a:r>
              <a:rPr lang="es-ES" sz="1000" i="1" dirty="0" err="1">
                <a:latin typeface="verdana"/>
                <a:ea typeface="verdana"/>
                <a:cs typeface="verdana"/>
              </a:rPr>
              <a:t>Vlissides</a:t>
            </a:r>
            <a:r>
              <a:rPr lang="es-ES" sz="1000" i="1" dirty="0">
                <a:latin typeface="verdana"/>
                <a:ea typeface="verdana"/>
                <a:cs typeface="verdana"/>
              </a:rPr>
              <a:t>. </a:t>
            </a:r>
            <a:br>
              <a:rPr lang="es-ES" sz="1000" dirty="0"/>
            </a:br>
            <a:r>
              <a:rPr lang="es-ES" sz="1000" i="1" dirty="0">
                <a:latin typeface="verdana"/>
                <a:ea typeface="verdana"/>
                <a:cs typeface="verdana"/>
              </a:rPr>
              <a:t>    </a:t>
            </a:r>
            <a:r>
              <a:rPr lang="es-ES" sz="1000" i="1" dirty="0" err="1">
                <a:latin typeface="verdana"/>
                <a:ea typeface="verdana"/>
                <a:cs typeface="verdana"/>
              </a:rPr>
              <a:t>Published</a:t>
            </a:r>
            <a:r>
              <a:rPr lang="es-ES" sz="1000" i="1" dirty="0">
                <a:latin typeface="verdana"/>
                <a:ea typeface="verdana"/>
                <a:cs typeface="verdana"/>
              </a:rPr>
              <a:t> </a:t>
            </a:r>
            <a:r>
              <a:rPr lang="es-ES" sz="1000" i="1" dirty="0" err="1">
                <a:latin typeface="verdana"/>
                <a:ea typeface="verdana"/>
                <a:cs typeface="verdana"/>
              </a:rPr>
              <a:t>October</a:t>
            </a:r>
            <a:r>
              <a:rPr lang="es-ES" sz="1000" i="1" dirty="0">
                <a:latin typeface="verdana"/>
                <a:ea typeface="verdana"/>
                <a:cs typeface="verdana"/>
              </a:rPr>
              <a:t> 1994. Copyright © 1995 </a:t>
            </a:r>
            <a:r>
              <a:rPr lang="es-ES" sz="1000" i="1" dirty="0" err="1">
                <a:latin typeface="verdana"/>
                <a:ea typeface="verdana"/>
                <a:cs typeface="verdana"/>
              </a:rPr>
              <a:t>by</a:t>
            </a:r>
            <a:r>
              <a:rPr lang="es-ES" sz="1000" i="1" dirty="0">
                <a:latin typeface="verdana"/>
                <a:ea typeface="verdana"/>
                <a:cs typeface="verdana"/>
              </a:rPr>
              <a:t> Addison-Wesley.</a:t>
            </a:r>
            <a:r>
              <a:rPr lang="es-ES" i="1" dirty="0">
                <a:latin typeface="verdana"/>
                <a:ea typeface="verdana"/>
                <a:cs typeface="verdana"/>
              </a:rPr>
              <a:t> </a:t>
            </a:r>
            <a:endParaRPr lang="es-CO" sz="1400" dirty="0">
              <a:cs typeface="Calibri"/>
            </a:endParaRPr>
          </a:p>
        </p:txBody>
      </p:sp>
      <p:pic>
        <p:nvPicPr>
          <p:cNvPr id="5" name="Picture 5" descr="Imagen que contiene captura de pantalla&#10;&#10;Descripción generada con confianza muy alta">
            <a:extLst>
              <a:ext uri="{FF2B5EF4-FFF2-40B4-BE49-F238E27FC236}">
                <a16:creationId xmlns:a16="http://schemas.microsoft.com/office/drawing/2014/main" id="{EB689DA4-EA99-4060-9270-B0FDA455DE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592" t="34649" r="17526" b="28509"/>
          <a:stretch/>
        </p:blipFill>
        <p:spPr>
          <a:xfrm>
            <a:off x="1215484" y="1317025"/>
            <a:ext cx="6469933" cy="402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685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Especificación de Patrones</a:t>
            </a:r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5</a:t>
            </a:fld>
            <a:endParaRPr lang="en-US"/>
          </a:p>
        </p:txBody>
      </p:sp>
      <p:sp>
        <p:nvSpPr>
          <p:cNvPr id="6" name="5 Rectángulo"/>
          <p:cNvSpPr/>
          <p:nvPr/>
        </p:nvSpPr>
        <p:spPr>
          <a:xfrm>
            <a:off x="1331640" y="2272017"/>
            <a:ext cx="2304256" cy="10081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/>
              <a:t>Nombre</a:t>
            </a:r>
            <a:endParaRPr lang="en-US" b="1" dirty="0"/>
          </a:p>
        </p:txBody>
      </p:sp>
      <p:sp>
        <p:nvSpPr>
          <p:cNvPr id="7" name="6 Rectángulo"/>
          <p:cNvSpPr/>
          <p:nvPr/>
        </p:nvSpPr>
        <p:spPr>
          <a:xfrm>
            <a:off x="5148064" y="2276872"/>
            <a:ext cx="2304256" cy="10081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/>
              <a:t>Problema</a:t>
            </a:r>
            <a:endParaRPr lang="en-US" b="1" dirty="0"/>
          </a:p>
        </p:txBody>
      </p:sp>
      <p:sp>
        <p:nvSpPr>
          <p:cNvPr id="8" name="7 Rectángulo"/>
          <p:cNvSpPr/>
          <p:nvPr/>
        </p:nvSpPr>
        <p:spPr>
          <a:xfrm>
            <a:off x="1331640" y="4293096"/>
            <a:ext cx="2304256" cy="10081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/>
              <a:t>Solución</a:t>
            </a:r>
            <a:endParaRPr lang="en-US" b="1" dirty="0"/>
          </a:p>
        </p:txBody>
      </p:sp>
      <p:sp>
        <p:nvSpPr>
          <p:cNvPr id="9" name="8 Rectángulo"/>
          <p:cNvSpPr/>
          <p:nvPr/>
        </p:nvSpPr>
        <p:spPr>
          <a:xfrm>
            <a:off x="5148597" y="4293096"/>
            <a:ext cx="2304256" cy="10081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/>
              <a:t>Consecuencias</a:t>
            </a:r>
            <a:endParaRPr lang="en-US" b="1" dirty="0"/>
          </a:p>
        </p:txBody>
      </p:sp>
      <p:sp>
        <p:nvSpPr>
          <p:cNvPr id="10" name="9 Elipse"/>
          <p:cNvSpPr/>
          <p:nvPr/>
        </p:nvSpPr>
        <p:spPr>
          <a:xfrm>
            <a:off x="1187624" y="2060848"/>
            <a:ext cx="432048" cy="432048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/>
              <a:t>1</a:t>
            </a:r>
            <a:endParaRPr lang="en-US" b="1" dirty="0"/>
          </a:p>
        </p:txBody>
      </p:sp>
      <p:sp>
        <p:nvSpPr>
          <p:cNvPr id="11" name="10 Elipse"/>
          <p:cNvSpPr/>
          <p:nvPr/>
        </p:nvSpPr>
        <p:spPr>
          <a:xfrm>
            <a:off x="5004048" y="2060848"/>
            <a:ext cx="432048" cy="432048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/>
              <a:t>2</a:t>
            </a:r>
            <a:endParaRPr lang="en-US" b="1" dirty="0"/>
          </a:p>
        </p:txBody>
      </p:sp>
      <p:sp>
        <p:nvSpPr>
          <p:cNvPr id="12" name="11 Elipse"/>
          <p:cNvSpPr/>
          <p:nvPr/>
        </p:nvSpPr>
        <p:spPr>
          <a:xfrm>
            <a:off x="1187624" y="4077072"/>
            <a:ext cx="432048" cy="432048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/>
              <a:t>3</a:t>
            </a:r>
            <a:endParaRPr lang="en-US" b="1" dirty="0"/>
          </a:p>
        </p:txBody>
      </p:sp>
      <p:sp>
        <p:nvSpPr>
          <p:cNvPr id="13" name="12 Elipse"/>
          <p:cNvSpPr/>
          <p:nvPr/>
        </p:nvSpPr>
        <p:spPr>
          <a:xfrm>
            <a:off x="5008565" y="4122067"/>
            <a:ext cx="432048" cy="432048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/>
              <a:t>4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38857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El Nombre</a:t>
            </a:r>
            <a:endParaRPr lang="en-US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Descriptivo</a:t>
            </a:r>
          </a:p>
          <a:p>
            <a:r>
              <a:rPr lang="es-CO" dirty="0"/>
              <a:t>Una o dos palabras</a:t>
            </a:r>
          </a:p>
          <a:p>
            <a:r>
              <a:rPr lang="es-CO" dirty="0"/>
              <a:t>Difícil de asignar</a:t>
            </a:r>
          </a:p>
          <a:p>
            <a:r>
              <a:rPr lang="es-CO" dirty="0"/>
              <a:t>Beneficia la comunicación</a:t>
            </a:r>
          </a:p>
          <a:p>
            <a:endParaRPr lang="en-US" dirty="0"/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714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El Problema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Explica el problema y su contexto</a:t>
            </a:r>
          </a:p>
          <a:p>
            <a:r>
              <a:rPr lang="es-CO" dirty="0"/>
              <a:t>Define cuándo aplicar el patrón</a:t>
            </a:r>
          </a:p>
          <a:p>
            <a:pPr lvl="1"/>
            <a:r>
              <a:rPr lang="es-CO" dirty="0"/>
              <a:t>Descripción de síntomas</a:t>
            </a:r>
          </a:p>
          <a:p>
            <a:pPr lvl="2"/>
            <a:r>
              <a:rPr lang="es-CO" dirty="0"/>
              <a:t>estructura</a:t>
            </a:r>
          </a:p>
          <a:p>
            <a:pPr lvl="2"/>
            <a:r>
              <a:rPr lang="es-CO" dirty="0"/>
              <a:t>comportamiento</a:t>
            </a:r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03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La Solución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Describe para las clases u objetos (de forma general)</a:t>
            </a:r>
          </a:p>
          <a:p>
            <a:pPr lvl="1"/>
            <a:r>
              <a:rPr lang="es-CO" dirty="0"/>
              <a:t>Relaciones</a:t>
            </a:r>
          </a:p>
          <a:p>
            <a:pPr lvl="1"/>
            <a:r>
              <a:rPr lang="es-CO" dirty="0"/>
              <a:t>Responsabilidades</a:t>
            </a:r>
          </a:p>
          <a:p>
            <a:pPr lvl="1"/>
            <a:r>
              <a:rPr lang="es-CO" dirty="0"/>
              <a:t>Colaboraciones</a:t>
            </a:r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802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Consecuencias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Resultados obtenidos al aplicar el patrón</a:t>
            </a:r>
            <a:endParaRPr lang="en-US" dirty="0"/>
          </a:p>
          <a:p>
            <a:r>
              <a:rPr lang="es-CO" dirty="0"/>
              <a:t>Permiten evaluar alternativas de diseño</a:t>
            </a:r>
          </a:p>
          <a:p>
            <a:pPr lvl="1"/>
            <a:r>
              <a:rPr lang="es-CO" dirty="0"/>
              <a:t>Costo</a:t>
            </a:r>
          </a:p>
          <a:p>
            <a:pPr lvl="1"/>
            <a:r>
              <a:rPr lang="es-CO" dirty="0"/>
              <a:t>Riesgo</a:t>
            </a:r>
          </a:p>
          <a:p>
            <a:pPr lvl="1"/>
            <a:r>
              <a:rPr lang="es-CO" dirty="0"/>
              <a:t>Efectividad: propiedades (</a:t>
            </a:r>
            <a:r>
              <a:rPr lang="en-US" dirty="0"/>
              <a:t>system's flexibility, extensibility, or portability</a:t>
            </a:r>
            <a:r>
              <a:rPr lang="es-CO" dirty="0"/>
              <a:t>), funcionalidades</a:t>
            </a:r>
          </a:p>
          <a:p>
            <a:pPr lvl="1"/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972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Gang</a:t>
            </a:r>
            <a:r>
              <a:rPr lang="es-CO" dirty="0"/>
              <a:t> of </a:t>
            </a:r>
            <a:r>
              <a:rPr lang="es-CO" dirty="0" err="1"/>
              <a:t>Four’s</a:t>
            </a:r>
            <a:r>
              <a:rPr lang="es-CO" dirty="0"/>
              <a:t> Book</a:t>
            </a:r>
            <a:endParaRPr lang="en-US" dirty="0"/>
          </a:p>
        </p:txBody>
      </p:sp>
      <p:sp>
        <p:nvSpPr>
          <p:cNvPr id="6" name="5 Marcador de contenido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contenido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CO" dirty="0"/>
              <a:t>1994</a:t>
            </a:r>
          </a:p>
          <a:p>
            <a:r>
              <a:rPr lang="es-CO" dirty="0"/>
              <a:t>Catálogo de Patrones para diseño reusable en software orientado a objetos</a:t>
            </a:r>
          </a:p>
          <a:p>
            <a:r>
              <a:rPr lang="es-CO" dirty="0"/>
              <a:t>Plantilla para la descripción de patrones</a:t>
            </a:r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10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412776"/>
            <a:ext cx="4000500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5098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Head </a:t>
            </a:r>
            <a:r>
              <a:rPr lang="es-CO" dirty="0" err="1"/>
              <a:t>First</a:t>
            </a:r>
            <a:r>
              <a:rPr lang="es-CO" dirty="0"/>
              <a:t> </a:t>
            </a:r>
            <a:r>
              <a:rPr lang="es-CO" dirty="0" err="1"/>
              <a:t>Design</a:t>
            </a:r>
            <a:r>
              <a:rPr lang="es-CO" dirty="0"/>
              <a:t> </a:t>
            </a:r>
            <a:r>
              <a:rPr lang="es-CO" dirty="0" err="1"/>
              <a:t>Patterns</a:t>
            </a:r>
            <a:endParaRPr lang="en-U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11</a:t>
            </a:fld>
            <a:endParaRPr lang="en-US"/>
          </a:p>
        </p:txBody>
      </p:sp>
      <p:pic>
        <p:nvPicPr>
          <p:cNvPr id="1026" name="Picture 2" descr="Foto genéri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1366202"/>
            <a:ext cx="4007681" cy="4991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6328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/>
              <a:t>Plantilla para la especificación de patrones</a:t>
            </a:r>
            <a:endParaRPr lang="en-US" dirty="0"/>
          </a:p>
        </p:txBody>
      </p:sp>
      <p:sp>
        <p:nvSpPr>
          <p:cNvPr id="6" name="5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CO" dirty="0" err="1"/>
              <a:t>Name</a:t>
            </a:r>
            <a:r>
              <a:rPr lang="es-CO" dirty="0"/>
              <a:t> and </a:t>
            </a:r>
            <a:r>
              <a:rPr lang="es-CO" dirty="0" err="1"/>
              <a:t>classification</a:t>
            </a:r>
            <a:endParaRPr lang="es-CO" dirty="0"/>
          </a:p>
          <a:p>
            <a:r>
              <a:rPr lang="es-CO" dirty="0" err="1"/>
              <a:t>Intent</a:t>
            </a:r>
            <a:endParaRPr lang="es-CO" dirty="0"/>
          </a:p>
          <a:p>
            <a:r>
              <a:rPr lang="es-CO" dirty="0" err="1"/>
              <a:t>Also</a:t>
            </a:r>
            <a:r>
              <a:rPr lang="es-CO" dirty="0"/>
              <a:t> </a:t>
            </a:r>
            <a:r>
              <a:rPr lang="es-CO" dirty="0" err="1"/>
              <a:t>known</a:t>
            </a:r>
            <a:r>
              <a:rPr lang="es-CO" dirty="0"/>
              <a:t> as</a:t>
            </a:r>
          </a:p>
          <a:p>
            <a:r>
              <a:rPr lang="es-CO" dirty="0" err="1"/>
              <a:t>Motivation</a:t>
            </a:r>
            <a:endParaRPr lang="es-CO" dirty="0"/>
          </a:p>
          <a:p>
            <a:r>
              <a:rPr lang="es-CO" dirty="0" err="1"/>
              <a:t>Applicability</a:t>
            </a:r>
            <a:endParaRPr lang="es-CO" dirty="0"/>
          </a:p>
          <a:p>
            <a:r>
              <a:rPr lang="es-CO" dirty="0" err="1"/>
              <a:t>Structure</a:t>
            </a:r>
            <a:endParaRPr lang="es-CO" dirty="0"/>
          </a:p>
          <a:p>
            <a:r>
              <a:rPr lang="es-CO" dirty="0" err="1"/>
              <a:t>Participants</a:t>
            </a:r>
            <a:endParaRPr lang="es-CO" dirty="0"/>
          </a:p>
          <a:p>
            <a:r>
              <a:rPr lang="es-CO" dirty="0" err="1"/>
              <a:t>Collaborations</a:t>
            </a:r>
            <a:endParaRPr lang="es-CO" dirty="0"/>
          </a:p>
          <a:p>
            <a:r>
              <a:rPr lang="es-CO" dirty="0" err="1"/>
              <a:t>Consequences</a:t>
            </a:r>
            <a:endParaRPr lang="es-CO" dirty="0"/>
          </a:p>
          <a:p>
            <a:r>
              <a:rPr lang="es-CO" dirty="0" err="1"/>
              <a:t>Implementation</a:t>
            </a:r>
            <a:endParaRPr lang="es-CO" dirty="0"/>
          </a:p>
          <a:p>
            <a:r>
              <a:rPr lang="es-CO" dirty="0" err="1"/>
              <a:t>Sample</a:t>
            </a:r>
            <a:r>
              <a:rPr lang="es-CO" dirty="0"/>
              <a:t> </a:t>
            </a:r>
            <a:r>
              <a:rPr lang="es-CO" dirty="0" err="1"/>
              <a:t>code</a:t>
            </a:r>
            <a:endParaRPr lang="es-CO" dirty="0"/>
          </a:p>
          <a:p>
            <a:r>
              <a:rPr lang="es-CO" dirty="0" err="1"/>
              <a:t>Known</a:t>
            </a:r>
            <a:r>
              <a:rPr lang="es-CO" dirty="0"/>
              <a:t> uses</a:t>
            </a:r>
          </a:p>
          <a:p>
            <a:r>
              <a:rPr lang="es-CO" dirty="0" err="1"/>
              <a:t>Related</a:t>
            </a:r>
            <a:r>
              <a:rPr lang="es-CO" dirty="0"/>
              <a:t> </a:t>
            </a:r>
            <a:r>
              <a:rPr lang="es-CO" dirty="0" err="1"/>
              <a:t>patterns</a:t>
            </a:r>
            <a:endParaRPr lang="en-U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50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Patrones Creacionales</a:t>
            </a:r>
            <a:endParaRPr lang="en-US" dirty="0"/>
          </a:p>
        </p:txBody>
      </p:sp>
      <p:sp>
        <p:nvSpPr>
          <p:cNvPr id="4" name="Marcador de contenido 3"/>
          <p:cNvSpPr>
            <a:spLocks noGrp="1"/>
          </p:cNvSpPr>
          <p:nvPr>
            <p:ph idx="1"/>
          </p:nvPr>
        </p:nvSpPr>
        <p:spPr>
          <a:xfrm>
            <a:off x="457200" y="2132856"/>
            <a:ext cx="8229600" cy="3268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CO" dirty="0"/>
              <a:t>Dos motivaciones para su uso</a:t>
            </a:r>
          </a:p>
          <a:p>
            <a:pPr lvl="1"/>
            <a:r>
              <a:rPr lang="es-CO" dirty="0"/>
              <a:t>Encapsular información acerca de las clases concretas del sistema (que no se vean sus nombres, por ejemplo)</a:t>
            </a:r>
          </a:p>
          <a:p>
            <a:pPr lvl="1"/>
            <a:r>
              <a:rPr lang="es-CO" dirty="0"/>
              <a:t>Encapsular la forma como las clases se crean y relacionan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13</a:t>
            </a:fld>
            <a:endParaRPr lang="en-US"/>
          </a:p>
        </p:txBody>
      </p:sp>
      <p:sp>
        <p:nvSpPr>
          <p:cNvPr id="8" name="7 CuadroTexto"/>
          <p:cNvSpPr txBox="1"/>
          <p:nvPr/>
        </p:nvSpPr>
        <p:spPr>
          <a:xfrm>
            <a:off x="1259632" y="1198493"/>
            <a:ext cx="71304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Distintas formas en que los objetos de una clase se pueden instanciar. </a:t>
            </a:r>
          </a:p>
          <a:p>
            <a:r>
              <a:rPr lang="es-CO" dirty="0"/>
              <a:t>Permiten desacoplar los clientes de los objetos que éstos deben instanciar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495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Patrón </a:t>
            </a:r>
            <a:r>
              <a:rPr lang="es-CO" dirty="0" err="1"/>
              <a:t>Singleton</a:t>
            </a:r>
            <a:r>
              <a:rPr lang="es-CO" dirty="0"/>
              <a:t> (creacional)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CO" dirty="0"/>
              <a:t>El sistema de la inmobiliaria tiene un módulo de configuración (parametrización) que permite definir las variables globales del sistema. Entre estas tenemos:</a:t>
            </a:r>
          </a:p>
          <a:p>
            <a:pPr lvl="1"/>
            <a:r>
              <a:rPr lang="es-CO" dirty="0"/>
              <a:t>URI para consumir el servicio de pagos ACH</a:t>
            </a:r>
          </a:p>
          <a:p>
            <a:pPr lvl="1"/>
            <a:r>
              <a:rPr lang="es-CO" dirty="0"/>
              <a:t>URI para consumir el servicio de la aseguradora que recibe las solicitudes de arrendamiento</a:t>
            </a:r>
          </a:p>
          <a:p>
            <a:pPr lvl="1"/>
            <a:r>
              <a:rPr lang="es-CO" dirty="0"/>
              <a:t>Porcentaje de IVA cargado a los pagos por arrendamiento</a:t>
            </a:r>
          </a:p>
          <a:p>
            <a:pPr lvl="1"/>
            <a:r>
              <a:rPr lang="es-CO" dirty="0"/>
              <a:t>Porcentaje de comisión que cobra la inmobiliaria por cada mes de alquiler </a:t>
            </a:r>
          </a:p>
          <a:p>
            <a:pPr lvl="1"/>
            <a:r>
              <a:rPr lang="es-CO" dirty="0"/>
              <a:t>Porcentaje de comisión que cobra la inmobiliaria por venta de un inmueble</a:t>
            </a:r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546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Patrón </a:t>
            </a:r>
            <a:r>
              <a:rPr lang="es-CO" dirty="0" err="1"/>
              <a:t>Singleton</a:t>
            </a:r>
            <a:r>
              <a:rPr lang="es-CO" dirty="0"/>
              <a:t> (creacional)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dirty="0"/>
              <a:t>Asumamos que definimos una clase para permitir la asignación de valores a estas variables</a:t>
            </a:r>
          </a:p>
          <a:p>
            <a:r>
              <a:rPr lang="es-CO" dirty="0"/>
              <a:t>¿Cuántas instancias de esta clase deben crearse al momento de ejecutar el sistema? </a:t>
            </a:r>
          </a:p>
          <a:p>
            <a:r>
              <a:rPr lang="es-CO" dirty="0"/>
              <a:t>¿Quiénes deben poder acceder a los atributos definidos por esta clase?</a:t>
            </a:r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90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16</a:t>
            </a:fld>
            <a:endParaRPr 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55576" y="188640"/>
            <a:ext cx="5591274" cy="652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Monaco"/>
              </a:rPr>
              <a:t>public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 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Monaco"/>
              </a:rPr>
              <a:t>class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Configurador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 {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 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Monaco"/>
              </a:rPr>
              <a:t>private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String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uriACH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;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 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Monaco"/>
              </a:rPr>
              <a:t>private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String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uriAseguradora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;</a:t>
            </a:r>
          </a:p>
          <a:p>
            <a:pPr eaLnBrk="0" hangingPunct="0"/>
            <a:r>
              <a:rPr lang="en-US" altLang="en-US" sz="800" b="1" dirty="0">
                <a:solidFill>
                  <a:srgbClr val="006699"/>
                </a:solidFill>
                <a:latin typeface="Monaco"/>
              </a:rPr>
              <a:t>private </a:t>
            </a:r>
            <a:r>
              <a:rPr lang="en-US" altLang="en-US" sz="800" dirty="0">
                <a:solidFill>
                  <a:srgbClr val="000000"/>
                </a:solidFill>
                <a:latin typeface="Monaco"/>
              </a:rPr>
              <a:t>double </a:t>
            </a:r>
            <a:r>
              <a:rPr lang="en-US" altLang="en-US" sz="800" dirty="0" err="1">
                <a:solidFill>
                  <a:srgbClr val="000000"/>
                </a:solidFill>
                <a:latin typeface="Monaco"/>
              </a:rPr>
              <a:t>porcentajeIVA</a:t>
            </a:r>
            <a:r>
              <a:rPr lang="en-US" altLang="en-US" sz="800" dirty="0">
                <a:solidFill>
                  <a:srgbClr val="000000"/>
                </a:solidFill>
                <a:latin typeface="Monaco"/>
              </a:rPr>
              <a:t>;</a:t>
            </a:r>
          </a:p>
          <a:p>
            <a:pPr eaLnBrk="0" hangingPunct="0"/>
            <a:r>
              <a:rPr lang="en-US" altLang="en-US" sz="800" b="1" dirty="0">
                <a:solidFill>
                  <a:srgbClr val="006699"/>
                </a:solidFill>
                <a:latin typeface="Monaco"/>
              </a:rPr>
              <a:t>private </a:t>
            </a:r>
            <a:r>
              <a:rPr lang="en-US" altLang="en-US" sz="800" dirty="0">
                <a:solidFill>
                  <a:srgbClr val="000000"/>
                </a:solidFill>
                <a:latin typeface="Monaco"/>
              </a:rPr>
              <a:t>double </a:t>
            </a:r>
            <a:r>
              <a:rPr lang="en-US" altLang="en-US" sz="800" dirty="0" err="1">
                <a:solidFill>
                  <a:srgbClr val="000000"/>
                </a:solidFill>
                <a:latin typeface="Monaco"/>
              </a:rPr>
              <a:t>comisionAlquiler</a:t>
            </a:r>
            <a:r>
              <a:rPr lang="en-US" altLang="en-US" sz="800" dirty="0">
                <a:solidFill>
                  <a:srgbClr val="000000"/>
                </a:solidFill>
                <a:latin typeface="Monaco"/>
              </a:rPr>
              <a:t>;</a:t>
            </a:r>
          </a:p>
          <a:p>
            <a:pPr eaLnBrk="0" hangingPunct="0"/>
            <a:r>
              <a:rPr lang="en-US" altLang="en-US" sz="800" b="1" dirty="0">
                <a:solidFill>
                  <a:srgbClr val="006699"/>
                </a:solidFill>
                <a:latin typeface="Monaco"/>
              </a:rPr>
              <a:t>private </a:t>
            </a:r>
            <a:r>
              <a:rPr lang="en-US" altLang="en-US" sz="800" dirty="0">
                <a:solidFill>
                  <a:srgbClr val="000000"/>
                </a:solidFill>
                <a:latin typeface="Monaco"/>
              </a:rPr>
              <a:t>double </a:t>
            </a:r>
            <a:r>
              <a:rPr lang="en-US" altLang="en-US" sz="800" dirty="0" err="1">
                <a:solidFill>
                  <a:srgbClr val="000000"/>
                </a:solidFill>
                <a:latin typeface="Monaco"/>
              </a:rPr>
              <a:t>comisionVenta</a:t>
            </a:r>
            <a:r>
              <a:rPr lang="en-US" altLang="en-US" sz="800" dirty="0">
                <a:solidFill>
                  <a:srgbClr val="000000"/>
                </a:solidFill>
                <a:latin typeface="Monaco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Monaco"/>
              </a:rPr>
              <a:t>private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 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Monaco"/>
              </a:rPr>
              <a:t>static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Configurador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miconfigurador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;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 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Monaco"/>
              </a:rPr>
              <a:t>public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  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Monaco"/>
              </a:rPr>
              <a:t>static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Configurador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getConfigurador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(String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urlACH,String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urlAseg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,</a:t>
            </a:r>
            <a:r>
              <a:rPr kumimoji="0" lang="en-US" altLang="en-US" sz="8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 double </a:t>
            </a:r>
            <a:r>
              <a:rPr kumimoji="0" lang="en-US" altLang="en-US" sz="800" b="0" i="0" u="none" strike="noStrike" cap="none" normalizeH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iva</a:t>
            </a:r>
            <a:r>
              <a:rPr kumimoji="0" lang="en-US" altLang="en-US" sz="8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, double </a:t>
            </a:r>
            <a:r>
              <a:rPr kumimoji="0" lang="en-US" altLang="en-US" sz="800" b="0" i="0" u="none" strike="noStrike" cap="none" normalizeH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comAlq</a:t>
            </a:r>
            <a:r>
              <a:rPr kumimoji="0" lang="en-US" altLang="en-US" sz="8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, double </a:t>
            </a:r>
            <a:r>
              <a:rPr kumimoji="0" lang="en-US" altLang="en-US" sz="800" b="0" i="0" u="none" strike="noStrike" cap="none" normalizeH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comVenta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) {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 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 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Monaco"/>
              </a:rPr>
              <a:t>if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(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miconfigurador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==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Monaco"/>
              </a:rPr>
              <a:t>null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) {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 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hangingPunct="0"/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 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miconfigurador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=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Monaco"/>
              </a:rPr>
              <a:t>new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Configurador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(</a:t>
            </a:r>
            <a:r>
              <a:rPr lang="en-US" altLang="en-US" sz="800" dirty="0" err="1">
                <a:solidFill>
                  <a:srgbClr val="000000"/>
                </a:solidFill>
                <a:latin typeface="Monaco"/>
              </a:rPr>
              <a:t>urlACH</a:t>
            </a:r>
            <a:r>
              <a:rPr lang="en-US" altLang="en-US" sz="800" dirty="0">
                <a:solidFill>
                  <a:srgbClr val="000000"/>
                </a:solidFill>
                <a:latin typeface="Monaco"/>
              </a:rPr>
              <a:t>, </a:t>
            </a:r>
            <a:r>
              <a:rPr lang="en-US" altLang="en-US" sz="800" dirty="0" err="1">
                <a:solidFill>
                  <a:srgbClr val="000000"/>
                </a:solidFill>
                <a:latin typeface="Monaco"/>
              </a:rPr>
              <a:t>urlAseg</a:t>
            </a:r>
            <a:r>
              <a:rPr lang="en-US" altLang="en-US" sz="800" dirty="0">
                <a:solidFill>
                  <a:srgbClr val="000000"/>
                </a:solidFill>
                <a:latin typeface="Monaco"/>
              </a:rPr>
              <a:t>, </a:t>
            </a:r>
            <a:r>
              <a:rPr lang="en-US" altLang="en-US" sz="800" dirty="0" err="1">
                <a:solidFill>
                  <a:srgbClr val="000000"/>
                </a:solidFill>
                <a:latin typeface="Monaco"/>
              </a:rPr>
              <a:t>iva</a:t>
            </a:r>
            <a:r>
              <a:rPr lang="en-US" altLang="en-US" sz="800" dirty="0">
                <a:solidFill>
                  <a:srgbClr val="000000"/>
                </a:solidFill>
                <a:latin typeface="Monaco"/>
              </a:rPr>
              <a:t>, </a:t>
            </a:r>
            <a:r>
              <a:rPr lang="en-US" altLang="en-US" sz="800" dirty="0" err="1">
                <a:solidFill>
                  <a:srgbClr val="000000"/>
                </a:solidFill>
                <a:latin typeface="Monaco"/>
              </a:rPr>
              <a:t>comAlq</a:t>
            </a:r>
            <a:r>
              <a:rPr lang="en-US" altLang="en-US" sz="800" dirty="0">
                <a:solidFill>
                  <a:srgbClr val="000000"/>
                </a:solidFill>
                <a:latin typeface="Monaco"/>
              </a:rPr>
              <a:t>, </a:t>
            </a:r>
            <a:r>
              <a:rPr lang="en-US" altLang="en-US" sz="800" dirty="0" err="1">
                <a:solidFill>
                  <a:srgbClr val="000000"/>
                </a:solidFill>
                <a:latin typeface="Monaco"/>
              </a:rPr>
              <a:t>comVenta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);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 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}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 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Monaco"/>
              </a:rPr>
              <a:t>return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miconfigurador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;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 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CO" altLang="en-US" sz="800" dirty="0">
              <a:solidFill>
                <a:srgbClr val="000000"/>
              </a:solidFill>
              <a:latin typeface="Monaco"/>
            </a:endParaRPr>
          </a:p>
          <a:p>
            <a:pPr lvl="0" eaLnBrk="0" hangingPunct="0"/>
            <a:r>
              <a:rPr lang="en-US" altLang="en-US" sz="800" b="1" dirty="0">
                <a:solidFill>
                  <a:srgbClr val="006699"/>
                </a:solidFill>
                <a:latin typeface="Monaco"/>
              </a:rPr>
              <a:t>public</a:t>
            </a:r>
            <a:r>
              <a:rPr lang="en-US" altLang="en-US" sz="800" dirty="0">
                <a:solidFill>
                  <a:srgbClr val="555555"/>
                </a:solidFill>
                <a:latin typeface="Monaco"/>
              </a:rPr>
              <a:t>  </a:t>
            </a:r>
            <a:r>
              <a:rPr lang="en-US" altLang="en-US" sz="800" b="1" dirty="0">
                <a:solidFill>
                  <a:srgbClr val="006699"/>
                </a:solidFill>
                <a:latin typeface="Monaco"/>
              </a:rPr>
              <a:t>static</a:t>
            </a:r>
            <a:r>
              <a:rPr lang="en-US" altLang="en-US" sz="800" dirty="0">
                <a:solidFill>
                  <a:srgbClr val="555555"/>
                </a:solidFill>
                <a:latin typeface="Monaco"/>
              </a:rPr>
              <a:t> </a:t>
            </a:r>
            <a:r>
              <a:rPr lang="en-US" altLang="en-US" sz="800" dirty="0" err="1">
                <a:solidFill>
                  <a:srgbClr val="000000"/>
                </a:solidFill>
                <a:latin typeface="Monaco"/>
              </a:rPr>
              <a:t>Configurador</a:t>
            </a:r>
            <a:r>
              <a:rPr lang="en-US" altLang="en-US" sz="800" dirty="0">
                <a:solidFill>
                  <a:srgbClr val="000000"/>
                </a:solidFill>
                <a:latin typeface="Monaco"/>
              </a:rPr>
              <a:t> </a:t>
            </a:r>
            <a:r>
              <a:rPr lang="en-US" altLang="en-US" sz="800" dirty="0" err="1">
                <a:solidFill>
                  <a:srgbClr val="000000"/>
                </a:solidFill>
                <a:latin typeface="Monaco"/>
              </a:rPr>
              <a:t>getConfigurador</a:t>
            </a:r>
            <a:r>
              <a:rPr lang="en-US" altLang="en-US" sz="800" dirty="0">
                <a:solidFill>
                  <a:srgbClr val="000000"/>
                </a:solidFill>
                <a:latin typeface="Monaco"/>
              </a:rPr>
              <a:t>() {</a:t>
            </a:r>
            <a:endParaRPr lang="en-US" altLang="en-US" sz="800" dirty="0"/>
          </a:p>
          <a:p>
            <a:pPr lvl="0" eaLnBrk="0" hangingPunct="0"/>
            <a:r>
              <a:rPr lang="en-US" altLang="en-US" sz="800" dirty="0">
                <a:solidFill>
                  <a:srgbClr val="555555"/>
                </a:solidFill>
                <a:latin typeface="Monaco"/>
              </a:rPr>
              <a:t> </a:t>
            </a:r>
            <a:endParaRPr lang="en-US" altLang="en-US" sz="800" dirty="0"/>
          </a:p>
          <a:p>
            <a:pPr lvl="0" eaLnBrk="0" hangingPunct="0"/>
            <a:r>
              <a:rPr lang="en-US" altLang="en-US" sz="800" dirty="0">
                <a:solidFill>
                  <a:srgbClr val="555555"/>
                </a:solidFill>
                <a:latin typeface="Monaco"/>
              </a:rPr>
              <a:t> </a:t>
            </a:r>
            <a:r>
              <a:rPr lang="en-US" altLang="en-US" sz="800" b="1" dirty="0">
                <a:solidFill>
                  <a:srgbClr val="006699"/>
                </a:solidFill>
                <a:latin typeface="Monaco"/>
              </a:rPr>
              <a:t>if</a:t>
            </a:r>
            <a:r>
              <a:rPr lang="en-US" altLang="en-US" sz="800" dirty="0">
                <a:solidFill>
                  <a:srgbClr val="555555"/>
                </a:solidFill>
                <a:latin typeface="Monaco"/>
              </a:rPr>
              <a:t> </a:t>
            </a:r>
            <a:r>
              <a:rPr lang="en-US" altLang="en-US" sz="800" dirty="0">
                <a:solidFill>
                  <a:srgbClr val="000000"/>
                </a:solidFill>
                <a:latin typeface="Monaco"/>
              </a:rPr>
              <a:t>(</a:t>
            </a:r>
            <a:r>
              <a:rPr lang="en-US" altLang="en-US" sz="800" dirty="0" err="1">
                <a:solidFill>
                  <a:srgbClr val="000000"/>
                </a:solidFill>
                <a:latin typeface="Monaco"/>
              </a:rPr>
              <a:t>miconfigurador</a:t>
            </a:r>
            <a:r>
              <a:rPr lang="en-US" altLang="en-US" sz="800" dirty="0">
                <a:solidFill>
                  <a:srgbClr val="000000"/>
                </a:solidFill>
                <a:latin typeface="Monaco"/>
              </a:rPr>
              <a:t>==</a:t>
            </a:r>
            <a:r>
              <a:rPr lang="en-US" altLang="en-US" sz="800" b="1" dirty="0">
                <a:solidFill>
                  <a:srgbClr val="006699"/>
                </a:solidFill>
                <a:latin typeface="Monaco"/>
              </a:rPr>
              <a:t>null</a:t>
            </a:r>
            <a:r>
              <a:rPr lang="en-US" altLang="en-US" sz="800" dirty="0">
                <a:solidFill>
                  <a:srgbClr val="000000"/>
                </a:solidFill>
                <a:latin typeface="Monaco"/>
              </a:rPr>
              <a:t>) {</a:t>
            </a:r>
            <a:endParaRPr lang="en-US" altLang="en-US" sz="800" dirty="0"/>
          </a:p>
          <a:p>
            <a:pPr lvl="0" eaLnBrk="0" hangingPunct="0"/>
            <a:r>
              <a:rPr lang="en-US" altLang="en-US" sz="800" dirty="0">
                <a:solidFill>
                  <a:srgbClr val="555555"/>
                </a:solidFill>
                <a:latin typeface="Monaco"/>
              </a:rPr>
              <a:t> </a:t>
            </a:r>
            <a:endParaRPr lang="en-US" altLang="en-US" sz="800" dirty="0"/>
          </a:p>
          <a:p>
            <a:pPr lvl="0" eaLnBrk="0" hangingPunct="0"/>
            <a:r>
              <a:rPr lang="en-US" altLang="en-US" sz="800" dirty="0">
                <a:solidFill>
                  <a:srgbClr val="555555"/>
                </a:solidFill>
                <a:latin typeface="Monaco"/>
              </a:rPr>
              <a:t> </a:t>
            </a:r>
            <a:r>
              <a:rPr lang="en-US" altLang="en-US" sz="800" dirty="0" err="1">
                <a:solidFill>
                  <a:srgbClr val="000000"/>
                </a:solidFill>
                <a:latin typeface="Monaco"/>
              </a:rPr>
              <a:t>miconfigurador</a:t>
            </a:r>
            <a:r>
              <a:rPr lang="en-US" altLang="en-US" sz="800" dirty="0">
                <a:solidFill>
                  <a:srgbClr val="000000"/>
                </a:solidFill>
                <a:latin typeface="Monaco"/>
              </a:rPr>
              <a:t>=</a:t>
            </a:r>
            <a:r>
              <a:rPr lang="en-US" altLang="en-US" sz="800" b="1" dirty="0">
                <a:solidFill>
                  <a:srgbClr val="006699"/>
                </a:solidFill>
                <a:latin typeface="Monaco"/>
              </a:rPr>
              <a:t>new</a:t>
            </a:r>
            <a:r>
              <a:rPr lang="en-US" altLang="en-US" sz="800" dirty="0">
                <a:solidFill>
                  <a:srgbClr val="555555"/>
                </a:solidFill>
                <a:latin typeface="Monaco"/>
              </a:rPr>
              <a:t> </a:t>
            </a:r>
            <a:r>
              <a:rPr lang="en-US" altLang="en-US" sz="800" dirty="0" err="1">
                <a:solidFill>
                  <a:srgbClr val="000000"/>
                </a:solidFill>
                <a:latin typeface="Monaco"/>
              </a:rPr>
              <a:t>Configurador</a:t>
            </a:r>
            <a:r>
              <a:rPr lang="en-US" altLang="en-US" sz="800" dirty="0">
                <a:solidFill>
                  <a:srgbClr val="000000"/>
                </a:solidFill>
                <a:latin typeface="Monaco"/>
              </a:rPr>
              <a:t>();</a:t>
            </a:r>
            <a:endParaRPr lang="en-US" altLang="en-US" sz="800" dirty="0"/>
          </a:p>
          <a:p>
            <a:pPr lvl="0" eaLnBrk="0" hangingPunct="0"/>
            <a:r>
              <a:rPr lang="en-US" altLang="en-US" sz="800" dirty="0">
                <a:solidFill>
                  <a:srgbClr val="555555"/>
                </a:solidFill>
                <a:latin typeface="Monaco"/>
              </a:rPr>
              <a:t> </a:t>
            </a:r>
            <a:r>
              <a:rPr lang="en-US" altLang="en-US" sz="800" dirty="0">
                <a:solidFill>
                  <a:srgbClr val="000000"/>
                </a:solidFill>
                <a:latin typeface="Monaco"/>
              </a:rPr>
              <a:t>}</a:t>
            </a:r>
            <a:endParaRPr lang="en-US" altLang="en-US" sz="800" dirty="0"/>
          </a:p>
          <a:p>
            <a:pPr lvl="0" eaLnBrk="0" hangingPunct="0"/>
            <a:r>
              <a:rPr lang="en-US" altLang="en-US" sz="800" dirty="0">
                <a:solidFill>
                  <a:srgbClr val="555555"/>
                </a:solidFill>
                <a:latin typeface="Monaco"/>
              </a:rPr>
              <a:t> </a:t>
            </a:r>
            <a:r>
              <a:rPr lang="en-US" altLang="en-US" sz="800" b="1" dirty="0">
                <a:solidFill>
                  <a:srgbClr val="006699"/>
                </a:solidFill>
                <a:latin typeface="Monaco"/>
              </a:rPr>
              <a:t>return</a:t>
            </a:r>
            <a:r>
              <a:rPr lang="en-US" altLang="en-US" sz="800" dirty="0">
                <a:solidFill>
                  <a:srgbClr val="555555"/>
                </a:solidFill>
                <a:latin typeface="Monaco"/>
              </a:rPr>
              <a:t> </a:t>
            </a:r>
            <a:r>
              <a:rPr lang="en-US" altLang="en-US" sz="800" dirty="0" err="1">
                <a:solidFill>
                  <a:srgbClr val="000000"/>
                </a:solidFill>
                <a:latin typeface="Monaco"/>
              </a:rPr>
              <a:t>miconfigurador</a:t>
            </a:r>
            <a:r>
              <a:rPr lang="en-US" altLang="en-US" sz="800" dirty="0">
                <a:solidFill>
                  <a:srgbClr val="000000"/>
                </a:solidFill>
                <a:latin typeface="Monaco"/>
              </a:rPr>
              <a:t>;</a:t>
            </a:r>
            <a:endParaRPr lang="en-US" altLang="en-US" sz="800" dirty="0"/>
          </a:p>
          <a:p>
            <a:pPr lvl="0" eaLnBrk="0" hangingPunct="0"/>
            <a:r>
              <a:rPr lang="en-US" altLang="en-US" sz="800" dirty="0">
                <a:solidFill>
                  <a:srgbClr val="555555"/>
                </a:solidFill>
                <a:latin typeface="Monaco"/>
              </a:rPr>
              <a:t> </a:t>
            </a:r>
            <a:r>
              <a:rPr lang="en-US" altLang="en-US" sz="800" dirty="0">
                <a:solidFill>
                  <a:srgbClr val="000000"/>
                </a:solidFill>
                <a:latin typeface="Monaco"/>
              </a:rPr>
              <a:t>}</a:t>
            </a:r>
            <a:endParaRPr lang="en-US" altLang="en-US" sz="800" dirty="0"/>
          </a:p>
          <a:p>
            <a:pPr lvl="0" eaLnBrk="0" hangingPunct="0"/>
            <a:r>
              <a:rPr lang="en-US" altLang="en-US" sz="800" dirty="0">
                <a:solidFill>
                  <a:srgbClr val="555555"/>
                </a:solidFill>
                <a:latin typeface="Monaco"/>
              </a:rPr>
              <a:t> </a:t>
            </a:r>
            <a:endParaRPr lang="en-US" altLang="en-US" sz="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 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 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Monaco"/>
              </a:rPr>
              <a:t>private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Configurador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(String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url,String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baseDatos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){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 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 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Monaco"/>
              </a:rPr>
              <a:t>this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.url=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url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;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 </a:t>
            </a:r>
            <a:r>
              <a:rPr kumimoji="0" lang="en-US" altLang="en-US" sz="8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Monaco"/>
              </a:rPr>
              <a:t>this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.baseDatos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=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baseDatos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;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 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 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}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 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Monaco"/>
              </a:rPr>
              <a:t>public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String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getUriACH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() {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 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Monaco"/>
              </a:rPr>
              <a:t>return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uriACH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;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 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}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 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Monaco"/>
              </a:rPr>
              <a:t>public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 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Monaco"/>
              </a:rPr>
              <a:t>void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setUriACH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(String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urlACH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) {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 </a:t>
            </a:r>
            <a:r>
              <a:rPr kumimoji="0" lang="en-US" altLang="en-US" sz="8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Monaco"/>
              </a:rPr>
              <a:t>this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.uriACH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 =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urlACH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;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 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}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 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hangingPunct="0"/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Monaco"/>
              </a:rPr>
              <a:t>public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String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get</a:t>
            </a:r>
            <a:r>
              <a:rPr lang="en-US" altLang="en-US" sz="800" dirty="0" err="1">
                <a:solidFill>
                  <a:srgbClr val="000000"/>
                </a:solidFill>
                <a:latin typeface="Monaco"/>
              </a:rPr>
              <a:t>UriAseguradora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() {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hangingPunct="0"/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 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Monaco"/>
              </a:rPr>
              <a:t>return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 </a:t>
            </a:r>
            <a:r>
              <a:rPr lang="en-US" altLang="en-US" sz="800" dirty="0" err="1">
                <a:solidFill>
                  <a:srgbClr val="000000"/>
                </a:solidFill>
                <a:latin typeface="Monaco"/>
              </a:rPr>
              <a:t>uriAseguradora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;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 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}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 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hangingPunct="0"/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Monaco"/>
              </a:rPr>
              <a:t>public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 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Monaco"/>
              </a:rPr>
              <a:t>void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set</a:t>
            </a:r>
            <a:r>
              <a:rPr lang="en-US" altLang="en-US" sz="800" dirty="0" err="1">
                <a:solidFill>
                  <a:srgbClr val="000000"/>
                </a:solidFill>
                <a:latin typeface="Monaco"/>
              </a:rPr>
              <a:t>UriAseguradora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(String </a:t>
            </a:r>
            <a:r>
              <a:rPr lang="en-US" altLang="en-US" sz="800" dirty="0" err="1">
                <a:solidFill>
                  <a:srgbClr val="000000"/>
                </a:solidFill>
                <a:latin typeface="Monaco"/>
              </a:rPr>
              <a:t>urlAseg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) {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hangingPunct="0"/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 </a:t>
            </a:r>
            <a:r>
              <a:rPr kumimoji="0" lang="en-US" altLang="en-US" sz="8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Monaco"/>
              </a:rPr>
              <a:t>this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.uriAseguradora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 = </a:t>
            </a:r>
            <a:r>
              <a:rPr lang="en-US" altLang="en-US" sz="800" dirty="0" err="1">
                <a:solidFill>
                  <a:srgbClr val="000000"/>
                </a:solidFill>
                <a:latin typeface="Monaco"/>
              </a:rPr>
              <a:t>urlAseg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;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 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O" altLang="en-US" sz="800" dirty="0">
                <a:solidFill>
                  <a:srgbClr val="000000"/>
                </a:solidFill>
                <a:latin typeface="Monaco"/>
              </a:rPr>
              <a:t>…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</a:rPr>
              <a:t>}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028" name="Picture 4" descr="0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2348880"/>
            <a:ext cx="2990850" cy="3162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2372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0885DA-8CDC-4FB5-9142-89DF100D5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anchor="ctr">
            <a:normAutofit/>
          </a:bodyPr>
          <a:lstStyle/>
          <a:p>
            <a:r>
              <a:rPr lang="es-ES" sz="3100" dirty="0">
                <a:solidFill>
                  <a:srgbClr val="FFFFFF"/>
                </a:solidFill>
                <a:cs typeface="Calibri"/>
              </a:rPr>
              <a:t>Estructura del Patrón de Diseño</a:t>
            </a:r>
            <a:br>
              <a:rPr lang="es-ES" sz="3100" dirty="0">
                <a:solidFill>
                  <a:srgbClr val="FFFFFF"/>
                </a:solidFill>
                <a:cs typeface="Calibri"/>
              </a:rPr>
            </a:br>
            <a:r>
              <a:rPr lang="es-ES" sz="3100" dirty="0" err="1">
                <a:solidFill>
                  <a:srgbClr val="FFFFFF"/>
                </a:solidFill>
                <a:cs typeface="Calibri"/>
              </a:rPr>
              <a:t>Singleton</a:t>
            </a:r>
            <a:endParaRPr lang="es-ES" sz="3100" dirty="0" err="1">
              <a:solidFill>
                <a:srgbClr val="FFFFFF"/>
              </a:solidFill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ADFB62C-E916-4A4E-8617-0C41A6643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987" y="1902178"/>
            <a:ext cx="5085525" cy="305131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DD88FD-DEEA-4B19-9BB6-B0A5458D7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5638" y="6356350"/>
            <a:ext cx="385761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4C10F5D-3CE8-4BB1-A1CF-712FC6722589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17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27795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err="1"/>
              <a:t>Abstract</a:t>
            </a:r>
            <a:r>
              <a:rPr lang="es-CO"/>
              <a:t> Factory Y Factory Method(Creacional)</a:t>
            </a:r>
            <a:endParaRPr lang="en-US"/>
          </a:p>
        </p:txBody>
      </p:sp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18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16" y="3818588"/>
            <a:ext cx="5807393" cy="2149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107504" y="602128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/>
              <a:t>Tomado</a:t>
            </a:r>
            <a:r>
              <a:rPr lang="en-US" dirty="0"/>
              <a:t> : </a:t>
            </a:r>
            <a:r>
              <a:rPr lang="en-US" dirty="0" err="1"/>
              <a:t>Técnicas</a:t>
            </a:r>
            <a:r>
              <a:rPr lang="en-US" dirty="0"/>
              <a:t> de </a:t>
            </a:r>
            <a:r>
              <a:rPr lang="en-US" dirty="0" err="1"/>
              <a:t>Programación</a:t>
            </a:r>
            <a:r>
              <a:rPr lang="en-US" dirty="0"/>
              <a:t> – </a:t>
            </a:r>
          </a:p>
          <a:p>
            <a:r>
              <a:rPr lang="en-US" dirty="0" err="1"/>
              <a:t>Curso</a:t>
            </a:r>
            <a:r>
              <a:rPr lang="en-US" dirty="0"/>
              <a:t> 2008/09 (Esther Guerra Sánchez)</a:t>
            </a:r>
          </a:p>
        </p:txBody>
      </p:sp>
      <p:sp>
        <p:nvSpPr>
          <p:cNvPr id="6" name="8 Rectángulo">
            <a:extLst>
              <a:ext uri="{FF2B5EF4-FFF2-40B4-BE49-F238E27FC236}">
                <a16:creationId xmlns:a16="http://schemas.microsoft.com/office/drawing/2014/main" id="{B1700080-AAE3-417D-80C4-0496123A373A}"/>
              </a:ext>
            </a:extLst>
          </p:cNvPr>
          <p:cNvSpPr/>
          <p:nvPr/>
        </p:nvSpPr>
        <p:spPr>
          <a:xfrm>
            <a:off x="419737" y="1538497"/>
            <a:ext cx="7939668" cy="2585323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/>
              <a:t>El patrón Factory Method define una interfaz para la creación de un objeto, pero permite a sus subclases decidir que clases usar para instanciarlo. Factory Method le permite a una clase entregar la instanciación a sus subclases.</a:t>
            </a:r>
            <a:endParaRPr lang="es-ES">
              <a:cs typeface="Calibri"/>
            </a:endParaRPr>
          </a:p>
          <a:p>
            <a:endParaRPr lang="en-US" dirty="0">
              <a:cs typeface="Calibri"/>
            </a:endParaRPr>
          </a:p>
          <a:p>
            <a:r>
              <a:rPr lang="en-US">
                <a:cs typeface="Calibri"/>
              </a:rPr>
              <a:t>El patrón abstract Factory es un objeto que tiene multiples factory methods implementados.</a:t>
            </a:r>
          </a:p>
          <a:p>
            <a:endParaRPr lang="en-US" dirty="0">
              <a:cs typeface="Calibri"/>
            </a:endParaRPr>
          </a:p>
          <a:p>
            <a:r>
              <a:rPr lang="en-US">
                <a:cs typeface="Calibri"/>
              </a:rPr>
              <a:t>Veamos un ejemplo:</a:t>
            </a:r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42270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Abstract</a:t>
            </a:r>
            <a:r>
              <a:rPr lang="es-CO" dirty="0"/>
              <a:t> Factory (creacional)</a:t>
            </a:r>
            <a:endParaRPr lang="en-US" dirty="0"/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19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412776"/>
            <a:ext cx="8720969" cy="504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36456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Estructura</a:t>
            </a:r>
            <a:r>
              <a:rPr lang="en-US" dirty="0"/>
              <a:t> del </a:t>
            </a:r>
            <a:r>
              <a:rPr lang="en-US" dirty="0" err="1"/>
              <a:t>Patrón</a:t>
            </a:r>
            <a:r>
              <a:rPr lang="en-US" dirty="0"/>
              <a:t> de Diseño Abstract</a:t>
            </a:r>
            <a:r>
              <a:rPr lang="en-US"/>
              <a:t> Factory</a:t>
            </a:r>
            <a:endParaRPr lang="en-US">
              <a:cs typeface="Calibri"/>
            </a:endParaRPr>
          </a:p>
        </p:txBody>
      </p:sp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813609"/>
            <a:ext cx="6431059" cy="4711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8084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15112"/>
            <a:ext cx="6101419" cy="67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03859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>
          <a:xfrm>
            <a:off x="448616" y="2852936"/>
            <a:ext cx="8229600" cy="1143000"/>
          </a:xfrm>
        </p:spPr>
        <p:txBody>
          <a:bodyPr/>
          <a:lstStyle/>
          <a:p>
            <a:r>
              <a:rPr lang="es-CO" dirty="0"/>
              <a:t>¿Cómo sería el código en Java?</a:t>
            </a:r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6271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0B4FC-ADCE-4A16-B222-17F1F62A7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s-ES" dirty="0" err="1">
                <a:cs typeface="Calibri"/>
              </a:rPr>
              <a:t>Builder</a:t>
            </a:r>
            <a:r>
              <a:rPr lang="es-ES" dirty="0">
                <a:cs typeface="Calibri"/>
              </a:rPr>
              <a:t> (Creacional)</a:t>
            </a:r>
            <a:endParaRPr lang="es-E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EB49C-0C6C-4691-B892-0F75A1AE5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dirty="0">
                <a:cs typeface="Calibri"/>
              </a:rPr>
              <a:t>Patrón de diseño que permite encapsular la construcción de objetos complejos.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0D5C2-F1D3-4277-8BD9-C2E4CBECB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24C10F5D-3CE8-4BB1-A1CF-712FC6722589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5" descr="Imagen que contiene captura de pantalla&#10;&#10;Descripción generada con confianza muy alta">
            <a:extLst>
              <a:ext uri="{FF2B5EF4-FFF2-40B4-BE49-F238E27FC236}">
                <a16:creationId xmlns:a16="http://schemas.microsoft.com/office/drawing/2014/main" id="{54CF1233-BF52-4B77-8BCD-42571C4F19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695" t="18023" r="11788" b="16473"/>
          <a:stretch/>
        </p:blipFill>
        <p:spPr>
          <a:xfrm>
            <a:off x="1739902" y="2731549"/>
            <a:ext cx="5121041" cy="371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1775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Patrones Estructurales</a:t>
            </a:r>
            <a:endParaRPr lang="en-US" dirty="0"/>
          </a:p>
        </p:txBody>
      </p:sp>
      <p:sp>
        <p:nvSpPr>
          <p:cNvPr id="4" name="Marcador de contenido 3"/>
          <p:cNvSpPr>
            <a:spLocks noGrp="1"/>
          </p:cNvSpPr>
          <p:nvPr>
            <p:ph idx="1"/>
          </p:nvPr>
        </p:nvSpPr>
        <p:spPr>
          <a:xfrm>
            <a:off x="457200" y="2132856"/>
            <a:ext cx="8229600" cy="3268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s-CO" dirty="0"/>
              <a:t>Soluciones a problemas comunes a partir de la forma como las clases y objetos se componen u agregan entre sí.</a:t>
            </a:r>
            <a:endParaRPr lang="es-CO" dirty="0">
              <a:cs typeface="Calibri"/>
            </a:endParaRP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4654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 (</a:t>
            </a:r>
            <a:r>
              <a:rPr lang="en-US" dirty="0" err="1"/>
              <a:t>Estructural</a:t>
            </a:r>
            <a:r>
              <a:rPr lang="en-US" dirty="0"/>
              <a:t>)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25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902" y="2583654"/>
            <a:ext cx="5978764" cy="3263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0A9072D-928C-4342-A998-EA92F29CB967}"/>
              </a:ext>
            </a:extLst>
          </p:cNvPr>
          <p:cNvSpPr txBox="1">
            <a:spLocks/>
          </p:cNvSpPr>
          <p:nvPr/>
        </p:nvSpPr>
        <p:spPr>
          <a:xfrm>
            <a:off x="646771" y="1408027"/>
            <a:ext cx="7772400" cy="2477224"/>
          </a:xfrm>
          <a:prstGeom prst="rect">
            <a:avLst/>
          </a:prstGeom>
        </p:spPr>
        <p:txBody>
          <a:bodyPr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sz="1800" dirty="0">
                <a:cs typeface="Calibri"/>
              </a:rPr>
              <a:t>El patrón Adapter convierte la interfaz de una clase en la interfaz que el cliente conoce o espera. El adaptador </a:t>
            </a:r>
            <a:r>
              <a:rPr lang="es-CO" sz="1800">
                <a:cs typeface="Calibri"/>
              </a:rPr>
              <a:t>les permite a las clases trabajar juntas lo que no podría suceder debido a interfaces incompatibles.</a:t>
            </a:r>
            <a:endParaRPr lang="es-CO" sz="18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77819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Estructura</a:t>
            </a:r>
            <a:r>
              <a:rPr lang="en-US" dirty="0"/>
              <a:t> del </a:t>
            </a:r>
            <a:r>
              <a:rPr lang="en-US" dirty="0" err="1"/>
              <a:t>Patrón</a:t>
            </a:r>
            <a:r>
              <a:rPr lang="en-US" dirty="0"/>
              <a:t> de </a:t>
            </a:r>
            <a:r>
              <a:rPr lang="en-US" dirty="0" err="1"/>
              <a:t>Diseño</a:t>
            </a:r>
            <a:r>
              <a:rPr lang="en-US" dirty="0"/>
              <a:t> Adapter (</a:t>
            </a:r>
            <a:r>
              <a:rPr lang="en-US" dirty="0" err="1"/>
              <a:t>Estructural</a:t>
            </a:r>
            <a:r>
              <a:rPr lang="en-US" dirty="0"/>
              <a:t>)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26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132856"/>
            <a:ext cx="8604171" cy="3328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7017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Adapter (</a:t>
            </a:r>
            <a:r>
              <a:rPr lang="en-US" dirty="0" err="1"/>
              <a:t>Estructural</a:t>
            </a:r>
            <a:r>
              <a:rPr lang="en-US" dirty="0"/>
              <a:t>)</a:t>
            </a: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27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56792"/>
            <a:ext cx="8489092" cy="4215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76740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Adapter</a:t>
            </a:r>
            <a:r>
              <a:rPr lang="es-CO" dirty="0"/>
              <a:t> (Estructural)</a:t>
            </a:r>
            <a:endParaRPr lang="en-US" dirty="0"/>
          </a:p>
        </p:txBody>
      </p:sp>
      <p:sp>
        <p:nvSpPr>
          <p:cNvPr id="4" name="3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Un banco colombiano ofrece servicios en diferentes países.</a:t>
            </a:r>
          </a:p>
          <a:p>
            <a:r>
              <a:rPr lang="es-CO" dirty="0"/>
              <a:t>Para las cuentas extranjeras, el banco siempre carga un costo del 0,03% sobre el saldo actual.</a:t>
            </a:r>
          </a:p>
          <a:p>
            <a:r>
              <a:rPr lang="es-CO" dirty="0"/>
              <a:t>Las cuentas nacionales no tienen este recargo</a:t>
            </a:r>
          </a:p>
          <a:p>
            <a:r>
              <a:rPr lang="es-CO" dirty="0"/>
              <a:t>Diseñe el sistema para que pueda ser posible calcular el saldo independientemente del tipo de cuenta</a:t>
            </a:r>
            <a:endParaRPr lang="en-US" dirty="0"/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3076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Adapter</a:t>
            </a:r>
            <a:r>
              <a:rPr lang="es-CO" dirty="0"/>
              <a:t> (Estructural)</a:t>
            </a:r>
            <a:endParaRPr lang="en-US" dirty="0"/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29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708920"/>
            <a:ext cx="6262559" cy="1507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03943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Adapter</a:t>
            </a:r>
            <a:r>
              <a:rPr lang="es-CO" dirty="0"/>
              <a:t> (Estructural)</a:t>
            </a:r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9" name="AutoShape 2" descr="Adapter Design Pattern Sequence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4" descr="Adapter Design Pattern Sequence Diagra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126" name="Picture 6" descr="http://st1.vchensubeswogfpjoq.netdna-cdn.com/wp-content/uploads/2014/10/Adapter-Design-Pattern-Sequence-Diagra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628800"/>
            <a:ext cx="6048672" cy="480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95665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84E17-909D-4DA8-BE4E-9F38D1614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cs typeface="Calibri"/>
              </a:rPr>
              <a:t>Proxy (Estructural)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D4D88-8672-4BCD-B4AB-6896167086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just">
              <a:buNone/>
            </a:pPr>
            <a:r>
              <a:rPr lang="es-ES" sz="2400" dirty="0">
                <a:cs typeface="Calibri"/>
              </a:rPr>
              <a:t>Patrón de diseño cuya principal responsabilidad es controlar el acceso a otro objeto, el cual podría estar en una ubicación remota, costoso de crear o necesitar seguridad.</a:t>
            </a:r>
          </a:p>
          <a:p>
            <a:pPr marL="0" indent="0" algn="just">
              <a:buNone/>
            </a:pPr>
            <a:endParaRPr lang="es-ES" sz="2400" dirty="0">
              <a:cs typeface="Calibri"/>
            </a:endParaRPr>
          </a:p>
          <a:p>
            <a:pPr marL="0" indent="0" algn="just">
              <a:buNone/>
            </a:pPr>
            <a:r>
              <a:rPr lang="es-ES" sz="2400" dirty="0">
                <a:cs typeface="Calibri"/>
              </a:rPr>
              <a:t>Existen distintas variaciones de este patrón, entre ellas encontramos:</a:t>
            </a:r>
          </a:p>
          <a:p>
            <a:pPr algn="just"/>
            <a:r>
              <a:rPr lang="es-ES" sz="2400" dirty="0">
                <a:cs typeface="Calibri"/>
              </a:rPr>
              <a:t>Proxy Remoto</a:t>
            </a:r>
          </a:p>
          <a:p>
            <a:pPr algn="just"/>
            <a:r>
              <a:rPr lang="es-ES" sz="2400" dirty="0">
                <a:cs typeface="Calibri"/>
              </a:rPr>
              <a:t>Proxy Virtual</a:t>
            </a:r>
          </a:p>
          <a:p>
            <a:pPr algn="just"/>
            <a:endParaRPr lang="es-ES" sz="2400" dirty="0">
              <a:cs typeface="Calibri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5701065-FBFF-4700-9620-EB9FCE418CE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endParaRPr lang="es-ES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F55FC-C752-40EE-83EA-872426F1A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31</a:t>
            </a:fld>
            <a:endParaRPr lang="en-US"/>
          </a:p>
        </p:txBody>
      </p:sp>
      <p:pic>
        <p:nvPicPr>
          <p:cNvPr id="5" name="Picture 5" descr="Imagen que contiene captura de pantalla&#10;&#10;Descripción generada con confianza muy alta">
            <a:extLst>
              <a:ext uri="{FF2B5EF4-FFF2-40B4-BE49-F238E27FC236}">
                <a16:creationId xmlns:a16="http://schemas.microsoft.com/office/drawing/2014/main" id="{6698DD36-6665-4A77-8046-7C83109469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076" t="30693" r="12871" b="10891"/>
          <a:stretch/>
        </p:blipFill>
        <p:spPr>
          <a:xfrm>
            <a:off x="4608833" y="1547789"/>
            <a:ext cx="3991271" cy="458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6020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C5961-29B3-4233-96CD-8E898B26F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>
                <a:cs typeface="Calibri"/>
              </a:rPr>
              <a:t>Decorator</a:t>
            </a:r>
            <a:r>
              <a:rPr lang="es-ES" dirty="0">
                <a:cs typeface="Calibri"/>
              </a:rPr>
              <a:t> (Estructura)</a:t>
            </a:r>
            <a:endParaRPr lang="es-E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D03D5-53A4-4D3E-AAC5-CC0055318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dirty="0">
                <a:cs typeface="Calibri"/>
              </a:rPr>
              <a:t>Adiciona comportamiento adicional a un objeto dinámicamente.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FAF51-EF79-4A91-95EC-24EEBC6C8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32</a:t>
            </a:fld>
            <a:endParaRPr lang="en-US"/>
          </a:p>
        </p:txBody>
      </p:sp>
      <p:pic>
        <p:nvPicPr>
          <p:cNvPr id="5" name="Picture 5" descr="Imagen que contiene captura de pantalla&#10;&#10;Descripción generada con confianza muy alta">
            <a:extLst>
              <a:ext uri="{FF2B5EF4-FFF2-40B4-BE49-F238E27FC236}">
                <a16:creationId xmlns:a16="http://schemas.microsoft.com/office/drawing/2014/main" id="{2854A04F-3CB3-4EEB-9E93-DABA77BB63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46" t="16988" r="11065" b="11734"/>
          <a:stretch/>
        </p:blipFill>
        <p:spPr>
          <a:xfrm>
            <a:off x="2012043" y="2668047"/>
            <a:ext cx="4936852" cy="369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7421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CBA31-1EEC-4BC7-A91A-B1CBD52FE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cs typeface="Calibri"/>
              </a:rPr>
              <a:t>Patrones de Comportamiento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0B46F-6186-4E30-883B-BCE69B5CF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s-ES" dirty="0">
                <a:cs typeface="Calibri"/>
              </a:rPr>
              <a:t>Su filosofía es preocuparse respecto a las interacciones y responsabilidades entre clases y objetos, así como de los algoritmos que encapsulan</a:t>
            </a:r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34BF7-140C-4C35-A8A5-B8605189F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983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21FD6-6E86-416A-A18A-7FD489EB4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>
                <a:cs typeface="Calibri"/>
              </a:rPr>
              <a:t>Template</a:t>
            </a:r>
            <a:r>
              <a:rPr lang="es-ES" dirty="0">
                <a:cs typeface="Calibri"/>
              </a:rPr>
              <a:t> </a:t>
            </a:r>
            <a:r>
              <a:rPr lang="es-ES" dirty="0" err="1">
                <a:cs typeface="Calibri"/>
              </a:rPr>
              <a:t>Method</a:t>
            </a:r>
            <a:r>
              <a:rPr lang="es-ES" dirty="0">
                <a:cs typeface="Calibri"/>
              </a:rPr>
              <a:t> (Comportamiento)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C481A-6C27-481D-BC36-3D070915B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s-ES" sz="2800">
                <a:cs typeface="Calibri"/>
              </a:rPr>
              <a:t>El patrón Template Method define el esqueleto de un algoritmo y permite a las subclases proveer la implementación para uno o más pasos del esqueleto.</a:t>
            </a:r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BF30D-071B-4746-A1B7-F93C2C8C9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34</a:t>
            </a:fld>
            <a:endParaRPr lang="en-US"/>
          </a:p>
        </p:txBody>
      </p:sp>
      <p:pic>
        <p:nvPicPr>
          <p:cNvPr id="5" name="Picture 5" descr="Imagen que contiene captura de pantalla&#10;&#10;Descripción generada con confianza muy alta">
            <a:extLst>
              <a:ext uri="{FF2B5EF4-FFF2-40B4-BE49-F238E27FC236}">
                <a16:creationId xmlns:a16="http://schemas.microsoft.com/office/drawing/2014/main" id="{C6C0953E-968C-4D95-BCAA-CA219D6E55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861" t="28240" r="13263" b="14120"/>
          <a:stretch/>
        </p:blipFill>
        <p:spPr>
          <a:xfrm>
            <a:off x="635620" y="3045463"/>
            <a:ext cx="4765138" cy="3318021"/>
          </a:xfrm>
          <a:prstGeom prst="rect">
            <a:avLst/>
          </a:prstGeom>
        </p:spPr>
      </p:pic>
      <p:pic>
        <p:nvPicPr>
          <p:cNvPr id="7" name="Picture 7" descr="Imagen que contiene captura de pantalla&#10;&#10;Descripción generada con confianza muy alta">
            <a:extLst>
              <a:ext uri="{FF2B5EF4-FFF2-40B4-BE49-F238E27FC236}">
                <a16:creationId xmlns:a16="http://schemas.microsoft.com/office/drawing/2014/main" id="{E8314CBA-D43A-4337-B757-FAEF9287F8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958" t="9202" r="13797" b="22086"/>
          <a:stretch/>
        </p:blipFill>
        <p:spPr>
          <a:xfrm>
            <a:off x="5397190" y="3112369"/>
            <a:ext cx="3293460" cy="290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5358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67CF-0F2A-4C53-801E-78D6EE5CC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>
                <a:cs typeface="Calibri"/>
              </a:rPr>
              <a:t>Strategy</a:t>
            </a:r>
            <a:r>
              <a:rPr lang="es-ES" dirty="0">
                <a:cs typeface="Calibri"/>
              </a:rPr>
              <a:t> (Comportamiento)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8ECCF-35E4-4892-A3F8-599882483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dirty="0">
                <a:cs typeface="Calibri"/>
              </a:rPr>
              <a:t>Define una familia de algoritmos, encapsulando </a:t>
            </a:r>
            <a:r>
              <a:rPr lang="es-ES">
                <a:cs typeface="Calibri"/>
              </a:rPr>
              <a:t>cada uno, y los hace intercambiables.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EF706-6353-471F-BF3D-12B923217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35</a:t>
            </a:fld>
            <a:endParaRPr lang="en-US"/>
          </a:p>
        </p:txBody>
      </p:sp>
      <p:pic>
        <p:nvPicPr>
          <p:cNvPr id="5" name="Picture 5" descr="Imagen que contiene captura de pantalla&#10;&#10;Descripción generada con confianza muy alta">
            <a:extLst>
              <a:ext uri="{FF2B5EF4-FFF2-40B4-BE49-F238E27FC236}">
                <a16:creationId xmlns:a16="http://schemas.microsoft.com/office/drawing/2014/main" id="{3F4FA775-BF7D-4949-A7ED-7C3BE74DA4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043" t="20538" r="11341" b="18826"/>
          <a:stretch/>
        </p:blipFill>
        <p:spPr>
          <a:xfrm>
            <a:off x="1683834" y="2644020"/>
            <a:ext cx="5669495" cy="3570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7200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CF9E8-0F17-4F95-86C2-32859342C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>
                <a:cs typeface="Calibri"/>
              </a:rPr>
              <a:t>Observer</a:t>
            </a:r>
            <a:r>
              <a:rPr lang="es-ES" dirty="0">
                <a:cs typeface="Calibri"/>
              </a:rPr>
              <a:t> (Comportamiento)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79FC2-AA05-439F-858F-4124693B6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s-ES" dirty="0">
                <a:cs typeface="Calibri"/>
              </a:rPr>
              <a:t>El patrón </a:t>
            </a:r>
            <a:r>
              <a:rPr lang="es-ES" dirty="0" err="1">
                <a:cs typeface="Calibri"/>
              </a:rPr>
              <a:t>observer</a:t>
            </a:r>
            <a:r>
              <a:rPr lang="es-ES" dirty="0">
                <a:cs typeface="Calibri"/>
              </a:rPr>
              <a:t> se encarga de definir relaciones de dependencia de estados de uno a muchos objetos.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35A72-332B-4157-AC10-7DEF7D12D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10F5D-3CE8-4BB1-A1CF-712FC6722589}" type="slidenum">
              <a:rPr lang="en-US" smtClean="0"/>
              <a:t>36</a:t>
            </a:fld>
            <a:endParaRPr lang="en-US"/>
          </a:p>
        </p:txBody>
      </p:sp>
      <p:pic>
        <p:nvPicPr>
          <p:cNvPr id="5" name="Picture 5" descr="Imagen que contiene captura de pantalla&#10;&#10;Descripción generada con confianza muy alta">
            <a:extLst>
              <a:ext uri="{FF2B5EF4-FFF2-40B4-BE49-F238E27FC236}">
                <a16:creationId xmlns:a16="http://schemas.microsoft.com/office/drawing/2014/main" id="{9F4542E7-7629-4436-8B17-A03631065E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561" t="31120" r="17881" b="23698"/>
          <a:stretch/>
        </p:blipFill>
        <p:spPr>
          <a:xfrm>
            <a:off x="3612996" y="2788984"/>
            <a:ext cx="4539890" cy="356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1370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1901</TotalTime>
  <Words>1121</Words>
  <Application>Microsoft Office PowerPoint</Application>
  <PresentationFormat>Presentación en pantalla (4:3)</PresentationFormat>
  <Paragraphs>213</Paragraphs>
  <Slides>36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1" baseType="lpstr">
      <vt:lpstr>Arial</vt:lpstr>
      <vt:lpstr>Calibri</vt:lpstr>
      <vt:lpstr>Monaco</vt:lpstr>
      <vt:lpstr>verdana</vt:lpstr>
      <vt:lpstr>Tema de Office</vt:lpstr>
      <vt:lpstr>Patrones de Diseño de Software: Introducción</vt:lpstr>
      <vt:lpstr>¿Qué es un Patrón de Diseño?</vt:lpstr>
      <vt:lpstr>Clasificación patrones básicos</vt:lpstr>
      <vt:lpstr>Clasificación patrones básicos</vt:lpstr>
      <vt:lpstr>Especificación de Patrones</vt:lpstr>
      <vt:lpstr>El Nombre</vt:lpstr>
      <vt:lpstr>El Problema</vt:lpstr>
      <vt:lpstr>La Solución</vt:lpstr>
      <vt:lpstr>Consecuencias</vt:lpstr>
      <vt:lpstr>Gang of Four’s Book</vt:lpstr>
      <vt:lpstr>Head First Design Patterns</vt:lpstr>
      <vt:lpstr>Plantilla para la especificación de patrones</vt:lpstr>
      <vt:lpstr>Patrones Creacionales</vt:lpstr>
      <vt:lpstr>Patrón Singleton (creacional)</vt:lpstr>
      <vt:lpstr>Patrón Singleton (creacional)</vt:lpstr>
      <vt:lpstr>Presentación de PowerPoint</vt:lpstr>
      <vt:lpstr>Estructura del Patrón de Diseño Singleton</vt:lpstr>
      <vt:lpstr>Abstract Factory Y Factory Method(Creacional)</vt:lpstr>
      <vt:lpstr>Abstract Factory (creacional)</vt:lpstr>
      <vt:lpstr>Estructura del Patrón de Diseño Abstract Factory</vt:lpstr>
      <vt:lpstr>Presentación de PowerPoint</vt:lpstr>
      <vt:lpstr>¿Cómo sería el código en Java?</vt:lpstr>
      <vt:lpstr>Builder (Creacional)</vt:lpstr>
      <vt:lpstr>Patrones Estructurales</vt:lpstr>
      <vt:lpstr>Adapter (Estructural)</vt:lpstr>
      <vt:lpstr>Estructura del Patrón de Diseño Adapter (Estructural)</vt:lpstr>
      <vt:lpstr>Object Adapter (Estructural)</vt:lpstr>
      <vt:lpstr>Adapter (Estructural)</vt:lpstr>
      <vt:lpstr>Adapter (Estructural)</vt:lpstr>
      <vt:lpstr>Adapter (Estructural)</vt:lpstr>
      <vt:lpstr>Proxy (Estructural)</vt:lpstr>
      <vt:lpstr>Decorator (Estructura)</vt:lpstr>
      <vt:lpstr>Patrones de Comportamiento</vt:lpstr>
      <vt:lpstr>Template Method (Comportamiento)</vt:lpstr>
      <vt:lpstr>Strategy (Comportamiento)</vt:lpstr>
      <vt:lpstr>Observer (Comportamiento)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Patrones de Diseño de Software: Introducción</dc:title>
  <dc:creator>Norha M. Villegas</dc:creator>
  <cp:lastModifiedBy>Norha M. Villegas</cp:lastModifiedBy>
  <cp:revision>429</cp:revision>
  <dcterms:created xsi:type="dcterms:W3CDTF">2013-07-31T02:24:29Z</dcterms:created>
  <dcterms:modified xsi:type="dcterms:W3CDTF">2021-04-22T01:42:29Z</dcterms:modified>
</cp:coreProperties>
</file>